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873B"/>
                </a:solidFill>
                <a:latin typeface="Segoe UI Semibold"/>
              </a:rPr>
              <a:t>ANALYST BRIEF  ·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FFFFFF"/>
                </a:solidFill>
                <a:latin typeface="Segoe UI Light"/>
              </a:rPr>
              <a:t>From PetroQuant to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Sparta-class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7D6E2"/>
                </a:solidFill>
                <a:latin typeface="Segoe UI"/>
              </a:rPr>
              <a:t>What Sparta Commodities is, why it leads oil-trading intelligence, and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7D6E2"/>
                </a:solidFill>
                <a:latin typeface="Segoe UI"/>
              </a:rPr>
              <a:t>challenges PetroQuant must solve to get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Scope   </a:t>
            </a:r>
            <a:r>
              <a:rPr sz="1200" b="0">
                <a:solidFill>
                  <a:srgbClr val="AEC0CE"/>
                </a:solidFill>
                <a:latin typeface="Segoe UI"/>
              </a:rPr>
              <a:t>Company teardown  ·  USP analysis  ·  gap assessment  · 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What this brief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25780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82296" cy="123444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9873B"/>
                </a:solidFill>
                <a:latin typeface="Segoe UI Ligh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4825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C3B5B"/>
                </a:solidFill>
                <a:latin typeface="Segoe UI"/>
              </a:rPr>
              <a:t>What Sparta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Definition, origin, and 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25780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82296" cy="123444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029968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4A6E"/>
                </a:solidFill>
                <a:latin typeface="Segoe UI Ligh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04825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C3B5B"/>
                </a:solidFill>
                <a:latin typeface="Segoe UI"/>
              </a:rPr>
              <a:t>Sparta at a glance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Facts, funding, clients, footprint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19272"/>
            <a:ext cx="525780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19272"/>
            <a:ext cx="82296" cy="123444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2044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9873B"/>
                </a:solidFill>
                <a:latin typeface="Segoe U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538728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C3B5B"/>
                </a:solidFill>
                <a:latin typeface="Segoe UI"/>
              </a:rPr>
              <a:t>Product &amp; how it works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The 3-tier suite and data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19272"/>
            <a:ext cx="525780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19272"/>
            <a:ext cx="82296" cy="123444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352044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4A6E"/>
                </a:solidFill>
                <a:latin typeface="Segoe UI Ligh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538728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C3B5B"/>
                </a:solidFill>
                <a:latin typeface="Segoe UI"/>
              </a:rPr>
              <a:t>Why Sparta leads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The USP that makes it defensible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09744"/>
            <a:ext cx="525780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809744"/>
            <a:ext cx="82296" cy="123444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10912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9873B"/>
                </a:solidFill>
                <a:latin typeface="Segoe UI Light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029200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C3B5B"/>
                </a:solidFill>
                <a:latin typeface="Segoe UI"/>
              </a:rPr>
              <a:t>PetroQuant's challenges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The real gaps to close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809744"/>
            <a:ext cx="5257800" cy="12344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809744"/>
            <a:ext cx="82296" cy="123444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5010912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4A6E"/>
                </a:solidFill>
                <a:latin typeface="Segoe UI Light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029200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C3B5B"/>
                </a:solidFill>
                <a:latin typeface="Segoe UI"/>
              </a:rPr>
              <a:t>The roadmap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How PetroQuant becomes Sparta-class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01  ·  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What is Sparta Commodities?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760720" cy="4114800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The operating system for oil trading desks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1188720" cy="36576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5257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6E2EC"/>
                </a:solidFill>
                <a:latin typeface="Segoe UI"/>
              </a:rPr>
              <a:t>A </a:t>
            </a:r>
            <a:r>
              <a:rPr sz="1500" b="1">
                <a:solidFill>
                  <a:srgbClr val="FFFFFF"/>
                </a:solidFill>
                <a:latin typeface="Segoe UI"/>
              </a:rPr>
              <a:t>forward-looking market-intelligence &amp; analytics platform</a:t>
            </a:r>
            <a:r>
              <a:rPr sz="1500" b="0">
                <a:solidFill>
                  <a:srgbClr val="D6E2EC"/>
                </a:solidFill>
                <a:latin typeface="Segoe UI"/>
              </a:rPr>
              <a:t> built specifically for oil traders.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6E2EC"/>
                </a:solidFill>
                <a:latin typeface="Segoe UI"/>
              </a:rPr>
              <a:t>It connects the </a:t>
            </a:r>
            <a:r>
              <a:rPr sz="1500" b="1">
                <a:solidFill>
                  <a:srgbClr val="FFFFFF"/>
                </a:solidFill>
                <a:latin typeface="Segoe UI"/>
              </a:rPr>
              <a:t>physical and paper oil markets</a:t>
            </a:r>
            <a:r>
              <a:rPr sz="1500" b="0">
                <a:solidFill>
                  <a:srgbClr val="D6E2EC"/>
                </a:solidFill>
                <a:latin typeface="Segoe UI"/>
              </a:rPr>
              <a:t> in one live workspace — pricing, forward curves, arbitrage, freight and blend margins — so a whole desk trades off one shared, real-time view instead of seven spreadsheets.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828800"/>
            <a:ext cx="4754880" cy="4114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IN ONE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97480"/>
            <a:ext cx="420624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450" b="1">
                <a:solidFill>
                  <a:srgbClr val="16232E"/>
                </a:solidFill>
                <a:latin typeface="Segoe UI"/>
              </a:rPr>
              <a:t>Founded 2020</a:t>
            </a:r>
            <a:r>
              <a:rPr sz="1450" b="0">
                <a:solidFill>
                  <a:srgbClr val="647483"/>
                </a:solidFill>
                <a:latin typeface="Segoe UI"/>
              </a:rPr>
              <a:t>  — Geneva, Switzerland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450" b="1">
                <a:solidFill>
                  <a:srgbClr val="16232E"/>
                </a:solidFill>
                <a:latin typeface="Segoe UI"/>
              </a:rPr>
              <a:t>By ex-traders</a:t>
            </a:r>
            <a:r>
              <a:rPr sz="1450" b="0">
                <a:solidFill>
                  <a:srgbClr val="647483"/>
                </a:solidFill>
                <a:latin typeface="Segoe UI"/>
              </a:rPr>
              <a:t>  — Schuurman (CEO) &amp; Moseley (COO), 37 yrs combined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450" b="1">
                <a:solidFill>
                  <a:srgbClr val="16232E"/>
                </a:solidFill>
                <a:latin typeface="Segoe UI"/>
              </a:rPr>
              <a:t>Category</a:t>
            </a:r>
            <a:r>
              <a:rPr sz="1450" b="0">
                <a:solidFill>
                  <a:srgbClr val="647483"/>
                </a:solidFill>
                <a:latin typeface="Segoe UI"/>
              </a:rPr>
              <a:t>  — SaaS market intelligence for commodity desks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450" b="1">
                <a:solidFill>
                  <a:srgbClr val="16232E"/>
                </a:solidFill>
                <a:latin typeface="Segoe UI"/>
              </a:rPr>
              <a:t>The pitch</a:t>
            </a:r>
            <a:r>
              <a:rPr sz="1450" b="0">
                <a:solidFill>
                  <a:srgbClr val="647483"/>
                </a:solidFill>
                <a:latin typeface="Segoe UI"/>
              </a:rPr>
              <a:t>  — “see the trade before the market does”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4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450" b="1">
                <a:solidFill>
                  <a:srgbClr val="16232E"/>
                </a:solidFill>
                <a:latin typeface="Segoe UI"/>
              </a:rPr>
              <a:t>Users</a:t>
            </a:r>
            <a:r>
              <a:rPr sz="1450" b="0">
                <a:solidFill>
                  <a:srgbClr val="647483"/>
                </a:solidFill>
                <a:latin typeface="Segoe UI"/>
              </a:rPr>
              <a:t>  — traders, analysts, risk &amp; data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02  ·  KEY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Sparta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3429000" cy="9144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3B5B"/>
                </a:solidFill>
                <a:latin typeface="Segoe UI"/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0449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Founded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3429000" cy="9144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19456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3B5B"/>
                </a:solidFill>
                <a:latin typeface="Segoe UI"/>
              </a:rPr>
              <a:t>Geneva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449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HQ  ·  8 global offices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874519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874519"/>
            <a:ext cx="3429000" cy="914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19456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3B5B"/>
                </a:solidFill>
                <a:latin typeface="Segoe UI"/>
              </a:rPr>
              <a:t>$65.5M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0449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Total funding raised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319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31920"/>
            <a:ext cx="3429000" cy="9144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5195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3B5B"/>
                </a:solidFill>
                <a:latin typeface="Segoe UI"/>
              </a:rPr>
              <a:t>~200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1023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Employees  ·  9 countries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9319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931920"/>
            <a:ext cx="3429000" cy="9144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25195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3B5B"/>
                </a:solidFill>
                <a:latin typeface="Segoe UI"/>
              </a:rPr>
              <a:t>30+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1023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Broker &amp; data partners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39319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3931920"/>
            <a:ext cx="3429000" cy="914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425195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C3B5B"/>
                </a:solidFill>
                <a:latin typeface="Segoe UI"/>
              </a:rPr>
              <a:t>4 majors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5102352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Trafigura · Chevron · P66 · Equinor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47483"/>
                </a:solidFill>
                <a:latin typeface="Segoe UI"/>
              </a:rPr>
              <a:t>Revenue is undisclosed; third-party estimates put ARR at ~$15–25M (treat as estimate, not fact).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02  · 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A five-year funding climb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063240"/>
            <a:ext cx="10149840" cy="45720"/>
          </a:xfrm>
          <a:prstGeom prst="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6816" y="2962656"/>
            <a:ext cx="201168" cy="201168"/>
          </a:xfrm>
          <a:prstGeom prst="round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429000"/>
            <a:ext cx="2468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429000"/>
            <a:ext cx="2468880" cy="82296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3"/>
                </a:solidFill>
                <a:latin typeface="Segoe UI Semibold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3B5B"/>
                </a:solidFill>
                <a:latin typeface="Segoe UI"/>
              </a:rPr>
              <a:t>Founded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Two ex-oil traders, Geneva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2860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4A6E"/>
                </a:solidFill>
                <a:latin typeface="Segoe UI"/>
              </a:rPr>
              <a:t>2020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2962656"/>
            <a:ext cx="201168" cy="20116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11880" y="3429000"/>
            <a:ext cx="2468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3429000"/>
            <a:ext cx="2468880" cy="82296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3"/>
                </a:solidFill>
                <a:latin typeface="Segoe UI Semibold"/>
              </a:rPr>
              <a:t>Mar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776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3B5B"/>
                </a:solidFill>
                <a:latin typeface="Segoe UI"/>
              </a:rPr>
              <a:t>$6M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572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Led by Singular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2860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9E8F"/>
                </a:solidFill>
                <a:latin typeface="Segoe UI"/>
              </a:rPr>
              <a:t>2022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34656" y="2962656"/>
            <a:ext cx="201168" cy="201168"/>
          </a:xfrm>
          <a:prstGeom prst="round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2468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429000"/>
            <a:ext cx="2468880" cy="82296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3"/>
                </a:solidFill>
                <a:latin typeface="Segoe UI Semibold"/>
              </a:rPr>
              <a:t>Oct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9776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3B5B"/>
                </a:solidFill>
                <a:latin typeface="Segoe UI"/>
              </a:rPr>
              <a:t>$17.5M Series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572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Led by FirstMark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2860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873B"/>
                </a:solidFill>
                <a:latin typeface="Segoe UI"/>
              </a:rPr>
              <a:t>2023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23576" y="2962656"/>
            <a:ext cx="201168" cy="201168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20" y="3429000"/>
            <a:ext cx="2468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429000"/>
            <a:ext cx="2468880" cy="82296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47483"/>
                </a:solidFill>
                <a:latin typeface="Segoe UI Semibold"/>
              </a:rPr>
              <a:t>Feb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9776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3B5B"/>
                </a:solidFill>
                <a:latin typeface="Segoe UI"/>
              </a:rPr>
              <a:t>$42M Series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572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Led by One Peak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2860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C3B5B"/>
                </a:solidFill>
                <a:latin typeface="Segoe U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873B"/>
                </a:solidFill>
                <a:latin typeface="Segoe UI Semibold"/>
              </a:rPr>
              <a:t>Signal:  </a:t>
            </a:r>
            <a:r>
              <a:rPr sz="1300" b="0">
                <a:solidFill>
                  <a:srgbClr val="16232E"/>
                </a:solidFill>
                <a:latin typeface="Segoe UI"/>
              </a:rPr>
              <a:t>a growth-equity fund (One Peak, $2B AUM) leading Series B = Sparta had crossed into proven, scaling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03  · 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One platform, three levels of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5021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3502152" cy="1051560"/>
          </a:xfrm>
          <a:prstGeom prst="round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3502152" cy="50292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75688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Sparta Curves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Segoe UI"/>
              </a:rPr>
              <a:t>“Where's the market now?”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200400"/>
            <a:ext cx="2953512" cy="2468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24A6E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Live + historical forward curves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24A6E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Futures, swaps, physical, freight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24A6E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Excel plug-in + mobile + sharing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1874519"/>
            <a:ext cx="35021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2272" y="1874519"/>
            <a:ext cx="3502152" cy="1051560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62272" y="2423160"/>
            <a:ext cx="3502152" cy="5029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075688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Sparta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478024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Segoe UI"/>
              </a:rPr>
              <a:t>“Why did it move?”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200400"/>
            <a:ext cx="2953512" cy="2468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F9E8F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Everything in Curves, plus: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F9E8F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Curated news + expert commentary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F9E8F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Real-time trader calls &amp;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1874519"/>
            <a:ext cx="35021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38744" y="1874519"/>
            <a:ext cx="3502152" cy="1051560"/>
          </a:xfrm>
          <a:prstGeom prst="round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2423160"/>
            <a:ext cx="3502152" cy="50292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4" y="2075688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Sparta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2478024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Segoe UI"/>
              </a:rPr>
              <a:t>“What should I do?”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3200400"/>
            <a:ext cx="2953512" cy="2468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Everything above, plus: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AI signals, arbs, blend margins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9873B"/>
                </a:solidFill>
                <a:latin typeface="Segoe UI"/>
              </a:rPr>
              <a:t>–  </a:t>
            </a:r>
            <a:r>
              <a:rPr sz="1350" b="0">
                <a:solidFill>
                  <a:srgbClr val="16232E"/>
                </a:solidFill>
                <a:latin typeface="Segoe UI"/>
              </a:rPr>
              <a:t>Scenario testing — the co-pilot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9873B"/>
                </a:solidFill>
                <a:latin typeface="Segoe UI Semibold"/>
              </a:rPr>
              <a:t>Modular:  </a:t>
            </a:r>
            <a:r>
              <a:rPr sz="1150" b="0">
                <a:solidFill>
                  <a:srgbClr val="647483"/>
                </a:solidFill>
                <a:latin typeface="Segoe UI"/>
              </a:rPr>
              <a:t>each tier works alone or stacks. Add-ons: Data Marketplace (API/SFTP) + S&amp;P Platts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03  ·  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How Sparta actually does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429000" cy="1874519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82296" cy="1874519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756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3B5B"/>
                </a:solidFill>
                <a:latin typeface="Segoe UI"/>
              </a:rPr>
              <a:t>Data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32887"/>
            <a:ext cx="29260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E9873B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30+ brokerages &amp; data houses, 5+ yr partnerships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E9873B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Every number verified, auditable, time-aligned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74519"/>
            <a:ext cx="3429000" cy="1874519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82296" cy="1874519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0756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3B5B"/>
                </a:solidFill>
                <a:latin typeface="Segoe UI"/>
              </a:rPr>
              <a:t>Forward-looking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32887"/>
            <a:ext cx="29260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24A6E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Sells opportunities you can still trade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24A6E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Not backward-looking history like rivals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874519"/>
            <a:ext cx="3429000" cy="1874519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874519"/>
            <a:ext cx="82296" cy="1874519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0756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3B5B"/>
                </a:solidFill>
                <a:latin typeface="Segoe UI"/>
              </a:rPr>
              <a:t>AI / ML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532887"/>
            <a:ext cx="29260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F9E8F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Over/undervaluation scores on 80+ grades &amp; routes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F9E8F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Live arb, freight &amp; blend-margin forecasts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3429000" cy="1874519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977639"/>
            <a:ext cx="82296" cy="1874519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7880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3B5B"/>
                </a:solidFill>
                <a:latin typeface="Segoe UI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636007"/>
            <a:ext cx="29260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24A6E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Web dashboard + Excel plug-in + mobile + API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24A6E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Same live view everywhere the desk 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977639"/>
            <a:ext cx="3429000" cy="1874519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977639"/>
            <a:ext cx="82296" cy="1874519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17880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3B5B"/>
                </a:solidFill>
                <a:latin typeface="Segoe UI"/>
              </a:rPr>
              <a:t>Human 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36007"/>
            <a:ext cx="29260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E9873B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Insights shaped by ex-trading-desk analysts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E9873B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Cited by Bloomberg, Reuters &amp; the 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3977639"/>
            <a:ext cx="3429000" cy="1874519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3977639"/>
            <a:ext cx="82296" cy="1874519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4" y="417880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3B5B"/>
                </a:solidFill>
                <a:latin typeface="Segoe UI"/>
              </a:rPr>
              <a:t>Collaboration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4636007"/>
            <a:ext cx="2926080" cy="10972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F9E8F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One shared source of truth for the whole desk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1">
                <a:solidFill>
                  <a:srgbClr val="1F9E8F"/>
                </a:solidFill>
                <a:latin typeface="Segoe UI"/>
              </a:rPr>
              <a:t>–  </a:t>
            </a:r>
            <a:r>
              <a:rPr sz="1180" b="0">
                <a:solidFill>
                  <a:srgbClr val="16232E"/>
                </a:solidFill>
                <a:latin typeface="Segoe UI"/>
              </a:rPr>
              <a:t>Turns isolated calls into “collective alpha”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04  ·  THE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Why Sparta leads the 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2167127"/>
            <a:ext cx="502920" cy="502920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1854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48839"/>
            <a:ext cx="4069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B5B"/>
                </a:solidFill>
                <a:latin typeface="Segoe UI"/>
              </a:rPr>
              <a:t>Forward-looking &amp; tradable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The only platform selling the next move, not the last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9672" y="2167127"/>
            <a:ext cx="502920" cy="502920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854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2148839"/>
            <a:ext cx="4069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B5B"/>
                </a:solidFill>
                <a:latin typeface="Segoe UI"/>
              </a:rPr>
              <a:t>Physical + paper, unified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Mirrors how real oil desks actually operate.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" y="3995928"/>
            <a:ext cx="502920" cy="502920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0142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77639"/>
            <a:ext cx="4069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B5B"/>
                </a:solidFill>
                <a:latin typeface="Segoe UI"/>
              </a:rPr>
              <a:t>Built by traders, for traders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Domain credibility tech-only rivals can't fake.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257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9672" y="3995928"/>
            <a:ext cx="502920" cy="502920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0142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977639"/>
            <a:ext cx="4069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B5B"/>
                </a:solidFill>
                <a:latin typeface="Segoe UI"/>
              </a:rPr>
              <a:t>Collaboration = collective alpha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3"/>
                </a:solidFill>
                <a:latin typeface="Segoe UI"/>
              </a:rPr>
              <a:t>One shared truth; sticky team workflow.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94960"/>
            <a:ext cx="10789920" cy="777240"/>
          </a:xfrm>
          <a:prstGeom prst="round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60"/>
            <a:ext cx="10241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873B"/>
                </a:solidFill>
                <a:latin typeface="Segoe UI Semibold"/>
              </a:rPr>
              <a:t>Result:  </a:t>
            </a:r>
            <a:r>
              <a:rPr sz="1400" b="0">
                <a:solidFill>
                  <a:srgbClr val="FFFFFF"/>
                </a:solidFill>
                <a:latin typeface="Segoe UI"/>
              </a:rPr>
              <a:t>blue-chip clients + high switching costs → strong retention. Its one gap: no public signal-accuracy track record.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05  · 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What PetroQuant must solve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10789920" cy="50292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7510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75103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PetroQuant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975103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77439"/>
            <a:ext cx="1078992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3B5B"/>
                </a:solidFill>
                <a:latin typeface="Segoe UI"/>
              </a:rPr>
              <a:t>Data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32887"/>
            <a:ext cx="3611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232E"/>
                </a:solidFill>
                <a:latin typeface="Segoe UI"/>
              </a:rPr>
              <a:t>Public / free feeds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532887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Sparta: 30+ exclusive broker partnerships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99232"/>
            <a:ext cx="107899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4553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3B5B"/>
                </a:solidFill>
                <a:latin typeface="Segoe UI"/>
              </a:rPr>
              <a:t>Physical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54679"/>
            <a:ext cx="3611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232E"/>
                </a:solidFill>
                <a:latin typeface="Segoe UI"/>
              </a:rPr>
              <a:t>No tanker / satellite flow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154679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Desks pay for real cargo intelligence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21024"/>
            <a:ext cx="1078992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673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3B5B"/>
                </a:solidFill>
                <a:latin typeface="Segoe UI"/>
              </a:rPr>
              <a:t>Market breadth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76472"/>
            <a:ext cx="3611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232E"/>
                </a:solidFill>
                <a:latin typeface="Segoe UI"/>
              </a:rPr>
              <a:t>Single market (WTI)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77647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Sparta spans grades, products &amp; freight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242816"/>
            <a:ext cx="107899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3B5B"/>
                </a:solidFill>
                <a:latin typeface="Segoe UI"/>
              </a:rPr>
              <a:t>Proven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98264"/>
            <a:ext cx="3611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232E"/>
                </a:solidFill>
                <a:latin typeface="Segoe UI"/>
              </a:rPr>
              <a:t>No clean multi-month live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398264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~52% accuracy; edge still fragile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864608"/>
            <a:ext cx="10789920" cy="62179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109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3B5B"/>
                </a:solidFill>
                <a:latin typeface="Segoe UI"/>
              </a:rPr>
              <a:t>Risk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020056"/>
            <a:ext cx="3611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232E"/>
                </a:solidFill>
                <a:latin typeface="Segoe UI"/>
              </a:rPr>
              <a:t>Stops erased ~70% of gross 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02005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Tail-risk control is the #1 P&amp;L lever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486400"/>
            <a:ext cx="107899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63270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3B5B"/>
                </a:solidFill>
                <a:latin typeface="Segoe UI"/>
              </a:rPr>
              <a:t>Product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641848"/>
            <a:ext cx="3611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232E"/>
                </a:solidFill>
                <a:latin typeface="Segoe UI"/>
              </a:rPr>
              <a:t>Script/dashboard, no 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64184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3"/>
                </a:solidFill>
                <a:latin typeface="Segoe UI"/>
              </a:rPr>
              <a:t>Sparta: Excel + mobile + API + collab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1874519"/>
            <a:ext cx="10789920" cy="4233672"/>
          </a:xfrm>
          <a:prstGeom prst="rect">
            <a:avLst/>
          </a:prstGeom>
          <a:noFill/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9873B"/>
                </a:solidFill>
                <a:latin typeface="Segoe UI Semibold"/>
              </a:rPr>
              <a:t>06  ·  THE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3B5B"/>
                </a:solidFill>
                <a:latin typeface="Segoe UI"/>
              </a:rPr>
              <a:t>How PetroQuant becomes Sparta-class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1554480" cy="41148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3"/>
                </a:solidFill>
                <a:latin typeface="Segoe UI"/>
              </a:rPr>
              <a:t>PetroQuant  ·  Competitive Strategy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3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777240" cy="685800"/>
          </a:xfrm>
          <a:prstGeom prst="round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1920240"/>
            <a:ext cx="9875520" cy="685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0200" y="1920240"/>
            <a:ext cx="73152" cy="6858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2029968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3B5B"/>
                </a:solidFill>
                <a:latin typeface="Segoe UI"/>
              </a:rPr>
              <a:t>Prove the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39112"/>
            <a:ext cx="6583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47483"/>
                </a:solidFill>
                <a:latin typeface="Segoe UI"/>
              </a:rPr>
              <a:t>Fix risk &amp; stops · 3-month clean paper · public track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61488"/>
            <a:ext cx="777240" cy="685800"/>
          </a:xfrm>
          <a:prstGeom prst="round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07208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2761488"/>
            <a:ext cx="9875520" cy="685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0200" y="2761488"/>
            <a:ext cx="73152" cy="68580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2871216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3B5B"/>
                </a:solidFill>
                <a:latin typeface="Segoe UI"/>
              </a:rPr>
              <a:t>Productize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0360"/>
            <a:ext cx="6583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47483"/>
                </a:solidFill>
                <a:latin typeface="Segoe UI"/>
              </a:rPr>
              <a:t>Regime dashboard · signal API · Excel &amp; mobile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02736"/>
            <a:ext cx="777240" cy="685800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48456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200" y="3602736"/>
            <a:ext cx="9875520" cy="685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00200" y="3602736"/>
            <a:ext cx="73152" cy="685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3712464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3B5B"/>
                </a:solidFill>
                <a:latin typeface="Segoe UI"/>
              </a:rPr>
              <a:t>Differentiate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721608"/>
            <a:ext cx="6583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47483"/>
                </a:solidFill>
                <a:latin typeface="Segoe UI"/>
              </a:rPr>
              <a:t>Win on TRANSPARENCY — public accuracy scorecard (Sparta's gap)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43984"/>
            <a:ext cx="777240" cy="685800"/>
          </a:xfrm>
          <a:prstGeom prst="round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89704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00200" y="4443984"/>
            <a:ext cx="9875520" cy="685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00200" y="4443984"/>
            <a:ext cx="73152" cy="685800"/>
          </a:xfrm>
          <a:prstGeom prst="rect">
            <a:avLst/>
          </a:prstGeom>
          <a:solidFill>
            <a:srgbClr val="12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4553712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3B5B"/>
                </a:solidFill>
                <a:latin typeface="Segoe UI"/>
              </a:rPr>
              <a:t>Expand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62856"/>
            <a:ext cx="6583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47483"/>
                </a:solidFill>
                <a:latin typeface="Segoe UI"/>
              </a:rPr>
              <a:t>Add Brent, gold &amp; MCX bridge · richer macro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85232"/>
            <a:ext cx="777240" cy="685800"/>
          </a:xfrm>
          <a:prstGeom prst="round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330952"/>
            <a:ext cx="777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0200" y="5285232"/>
            <a:ext cx="9875520" cy="68580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00200" y="5285232"/>
            <a:ext cx="73152" cy="68580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5394960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3B5B"/>
                </a:solidFill>
                <a:latin typeface="Segoe UI"/>
              </a:rPr>
              <a:t>Community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404104"/>
            <a:ext cx="6583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47483"/>
                </a:solidFill>
                <a:latin typeface="Segoe UI"/>
              </a:rPr>
              <a:t>Serve the indie / prop / small-fund macro-regime niche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873B"/>
                </a:solidFill>
                <a:latin typeface="Segoe UI Semibold"/>
              </a:rP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Don't out-gun Kpler on data.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Out-trust everyone on transparency.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6E2"/>
                </a:solidFill>
                <a:latin typeface="Segoe UI"/>
              </a:rPr>
              <a:t>Sparta owns the physical-desk workflow. PetroQuant's opening is the </a:t>
            </a:r>
            <a:r>
              <a:rPr sz="1600" b="1">
                <a:solidFill>
                  <a:srgbClr val="FFFFFF"/>
                </a:solidFill>
                <a:latin typeface="Segoe UI"/>
              </a:rPr>
              <a:t>verifiable, forward-looking co-pilot</a:t>
            </a:r>
            <a:r>
              <a:rPr sz="1600" b="0">
                <a:solidFill>
                  <a:srgbClr val="C7D6E2"/>
                </a:solidFill>
                <a:latin typeface="Segoe UI"/>
              </a:rPr>
              <a:t> for oil-macro traders — the niche where an auditable track record beats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57800"/>
            <a:ext cx="3108960" cy="45720"/>
          </a:xfrm>
          <a:prstGeom prst="rect">
            <a:avLst/>
          </a:prstGeom>
          <a:solidFill>
            <a:srgbClr val="E98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C0CE"/>
                </a:solidFill>
                <a:latin typeface="Segoe UI"/>
              </a:rPr>
              <a:t>PetroQuant  ·  Competitive Strategy Brief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